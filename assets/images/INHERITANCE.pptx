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6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892A-5FF9-35D2-CA72-CA7010218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64B41-64BE-94A5-3AC7-79F02B981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9690F-17DD-A45F-93E7-C4C7DC13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88971-BB9B-364B-4A83-3BF73ACA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AA849-F348-81E0-CFC2-1D7BE426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050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9C77-8461-DC57-02FA-B2E2776D5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9616-11AD-EC46-0958-9068F391C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129DA-11FF-7533-C21F-D1B3C6B2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BF030-5D05-3578-B381-639698AF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1CA54-1A76-8D36-8BEC-CE47810B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151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4558-2138-0E6F-00A7-4531ED8B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2FDB3-81DB-3E18-77AE-963BF1FE2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726B-55BF-CBE3-0A69-25919235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59C53-9FE6-1E0A-80FC-B2C5ACAF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B12B1-E3D8-A25D-A927-60D91D88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3089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2812-C1B9-1983-2419-A1FDF74D0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DAE1-402A-BD63-57C2-F9B3FDA18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4A46A-7F03-0208-592C-ED3EB1564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DD5B9-CA15-92EE-D36D-32E593D0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291EC-307D-6756-A374-158E2F8D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C5A14-B348-7377-19E1-840BDAD7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57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8F64-B3FE-A006-5997-3EF4BEEA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A97D0-97DD-7A36-FC05-3A0E9D829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C5600-5BE7-FAC2-DBF8-F216719B7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C9B92-2B4B-D844-3438-6922BEC89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679A8-C843-ECBE-6288-06ABC49F0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94D3A-4194-3D37-5A02-0192597A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D24044-83B9-E0D9-8E1A-CE7BBC77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33173C-E94E-DEF9-DB2F-513631BA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200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38AD0-ACD7-AA7C-60A4-2ED0A9C9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EB3F8F-7017-885E-B7BF-45D0C8C5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AD995-14CD-F280-D29F-EDE5A708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33562-84EA-5B1C-EBA0-AFE60F15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839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546876-948F-34F5-6094-AFCB5F15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40235-9794-905F-F4C0-57F447927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DA311-18E0-B216-32E5-070E4B75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324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C6D9-6F52-4195-27BA-8F0298D3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6CEF-D7A2-2058-D146-2345A19E6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F05E8-1E3D-E2C3-2CCA-3BFDBF2E9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1C03B-B2BC-62BD-5294-68F44811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D3C4A-91F0-6D97-6504-493D0B50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CF0C5-19F0-B1BC-5B3A-55306DD0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4540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D92F-38B1-B028-1D85-D44CAC34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2775D-68DA-19AF-D440-169AAC13B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85DBD-16FA-2CAF-CC34-CDD15069B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A85D6-608D-B8B4-192F-A997E116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7CBD8-7474-4333-9286-EFE07605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AAC66-6006-C1D4-5192-34E4A864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58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35AC-66F1-76F4-2E75-31E57396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DA11A-8BF6-BE68-1B79-50EF68E0A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FBC74-598C-7C2A-5ABF-678CB5D8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3DF8-E102-DA1A-FE75-40025BE10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96878-397B-1DF7-FF73-42023832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109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C5865-D18E-CCB1-AD1F-7E6354C34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DAC9F-9952-24CE-D337-922972581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143B6-C75A-8A1A-CD4F-00F47F20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0CDA9-DCB2-53B6-5700-7AFE4697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875C7-87C7-A2C4-F0DF-A2C123A6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409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87303-3BB3-6270-C99D-43250195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3A2BB-46BA-0D02-0142-608BAB09C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2EC68-93C2-8310-EEE6-A75A0DD1A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615DB-058E-4B8F-A1D9-AE5F86B9D909}" type="datetimeFigureOut">
              <a:rPr lang="en-ID" smtClean="0"/>
              <a:t>02/09/2026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5C8F4-D178-8776-B7BD-E7ADBA49D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ADB4C-6859-44EC-C130-1A8BFC07E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08CE4-2523-443B-88DE-3813ED302F9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506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1303-04A2-648A-C096-095F97937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INHERITANCE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388265-2D90-9250-E7A8-F773C7FBC6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LULU ZAKIYAH, S.KOM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24334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AA18-5EFA-6B88-F702-0CE7673C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A. Tujuan </a:t>
            </a:r>
            <a:r>
              <a:rPr lang="en-ID" b="1" dirty="0" err="1"/>
              <a:t>Pembelajaran</a:t>
            </a:r>
            <a:br>
              <a:rPr lang="en-ID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0F9C-A89B-0FCA-F94E-F19B3BB89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,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mampu</a:t>
            </a:r>
            <a:r>
              <a:rPr lang="en-ID" dirty="0"/>
              <a:t>:</a:t>
            </a:r>
          </a:p>
          <a:p>
            <a:pPr lvl="0"/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pengertian</a:t>
            </a:r>
            <a:r>
              <a:rPr lang="en-ID" dirty="0"/>
              <a:t> inheritance. </a:t>
            </a:r>
          </a:p>
          <a:p>
            <a:pPr lvl="0"/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b="1" dirty="0"/>
              <a:t>parent class</a:t>
            </a:r>
            <a:r>
              <a:rPr lang="en-ID" dirty="0"/>
              <a:t> dan </a:t>
            </a:r>
            <a:r>
              <a:rPr lang="en-ID" b="1" dirty="0"/>
              <a:t>child class</a:t>
            </a:r>
            <a:r>
              <a:rPr lang="en-ID" dirty="0"/>
              <a:t>. </a:t>
            </a:r>
          </a:p>
          <a:p>
            <a:pPr lvl="0"/>
            <a:r>
              <a:rPr lang="en-ID" dirty="0" err="1"/>
              <a:t>Membuat</a:t>
            </a:r>
            <a:r>
              <a:rPr lang="en-ID" dirty="0"/>
              <a:t> inheritance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tanda</a:t>
            </a:r>
            <a:r>
              <a:rPr lang="en-ID" dirty="0"/>
              <a:t> :. </a:t>
            </a:r>
          </a:p>
          <a:p>
            <a:pPr lvl="0"/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manfaat</a:t>
            </a:r>
            <a:r>
              <a:rPr lang="en-ID" dirty="0"/>
              <a:t> inheritance. </a:t>
            </a:r>
          </a:p>
          <a:p>
            <a:pPr lvl="0"/>
            <a:r>
              <a:rPr lang="en-ID" dirty="0" err="1"/>
              <a:t>Mengakses</a:t>
            </a:r>
            <a:r>
              <a:rPr lang="en-ID" dirty="0"/>
              <a:t> method </a:t>
            </a:r>
            <a:r>
              <a:rPr lang="en-ID" dirty="0" err="1"/>
              <a:t>dari</a:t>
            </a:r>
            <a:r>
              <a:rPr lang="en-ID" dirty="0"/>
              <a:t> parent class </a:t>
            </a:r>
            <a:r>
              <a:rPr lang="en-ID" dirty="0" err="1"/>
              <a:t>melalui</a:t>
            </a:r>
            <a:r>
              <a:rPr lang="en-ID" dirty="0"/>
              <a:t> child class. </a:t>
            </a:r>
          </a:p>
          <a:p>
            <a:pPr lvl="0"/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child class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parent class. </a:t>
            </a:r>
          </a:p>
          <a:p>
            <a:pPr lvl="0"/>
            <a:r>
              <a:rPr lang="en-ID" dirty="0" err="1"/>
              <a:t>Membedakan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diwariskan</a:t>
            </a:r>
            <a:r>
              <a:rPr lang="en-ID" dirty="0"/>
              <a:t>. </a:t>
            </a:r>
          </a:p>
          <a:p>
            <a:pPr lvl="0"/>
            <a:r>
              <a:rPr lang="en-ID" dirty="0" err="1"/>
              <a:t>Menggabungkan</a:t>
            </a:r>
            <a:r>
              <a:rPr lang="en-ID" dirty="0"/>
              <a:t> inheritance </a:t>
            </a:r>
            <a:r>
              <a:rPr lang="en-ID" dirty="0" err="1"/>
              <a:t>dengan</a:t>
            </a:r>
            <a:r>
              <a:rPr lang="en-ID" dirty="0"/>
              <a:t> class, object, method, dan private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program </a:t>
            </a:r>
            <a:r>
              <a:rPr lang="en-ID" dirty="0" err="1"/>
              <a:t>sederhana</a:t>
            </a:r>
            <a:r>
              <a:rPr lang="en-ID" dirty="0"/>
              <a:t>.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120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5A02-1037-4D4B-F647-4C85368C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Apersepsi</a:t>
            </a:r>
            <a:r>
              <a:rPr lang="en-ID" b="1" dirty="0"/>
              <a:t>: </a:t>
            </a:r>
            <a:r>
              <a:rPr lang="en-ID" b="1" dirty="0" err="1"/>
              <a:t>Kenapa</a:t>
            </a:r>
            <a:r>
              <a:rPr lang="en-ID" b="1" dirty="0"/>
              <a:t> Inheritance </a:t>
            </a:r>
            <a:r>
              <a:rPr lang="en-ID" b="1" dirty="0" err="1"/>
              <a:t>Dibutuhkan</a:t>
            </a:r>
            <a:r>
              <a:rPr lang="en-ID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A7B7-B91B-9AB0-7570-2229913FD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dirty="0" err="1"/>
              <a:t>Bayangkan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program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.</a:t>
            </a:r>
          </a:p>
          <a:p>
            <a:r>
              <a:rPr lang="en-ID" dirty="0"/>
              <a:t>Kita </a:t>
            </a:r>
            <a:r>
              <a:rPr lang="en-ID" dirty="0" err="1"/>
              <a:t>mempunyai</a:t>
            </a:r>
            <a:r>
              <a:rPr lang="en-ID" dirty="0"/>
              <a:t>:</a:t>
            </a:r>
          </a:p>
          <a:p>
            <a:pPr lvl="0"/>
            <a:r>
              <a:rPr lang="en-ID" dirty="0"/>
              <a:t>Mobil </a:t>
            </a:r>
          </a:p>
          <a:p>
            <a:pPr lvl="0"/>
            <a:r>
              <a:rPr lang="en-ID" dirty="0"/>
              <a:t>Motor </a:t>
            </a:r>
          </a:p>
          <a:p>
            <a:pPr lvl="0"/>
            <a:r>
              <a:rPr lang="en-ID" dirty="0"/>
              <a:t>Bus </a:t>
            </a:r>
          </a:p>
          <a:p>
            <a:pPr marL="0" indent="0">
              <a:buNone/>
            </a:pP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kesamaan</a:t>
            </a:r>
            <a:r>
              <a:rPr lang="en-ID" dirty="0"/>
              <a:t>:</a:t>
            </a:r>
          </a:p>
          <a:p>
            <a:pPr lvl="0"/>
            <a:r>
              <a:rPr lang="en-ID" dirty="0" err="1"/>
              <a:t>memiliki</a:t>
            </a:r>
            <a:r>
              <a:rPr lang="en-ID" dirty="0"/>
              <a:t> merk </a:t>
            </a:r>
          </a:p>
          <a:p>
            <a:pPr lvl="0"/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berjalan</a:t>
            </a:r>
            <a:r>
              <a:rPr lang="en-ID" dirty="0"/>
              <a:t> </a:t>
            </a:r>
          </a:p>
          <a:p>
            <a:pPr lvl="0"/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berhenti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5536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D210F-FEA8-EB9B-13B8-3AF71D34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Apa </a:t>
            </a:r>
            <a:r>
              <a:rPr lang="en-US" b="1" dirty="0" err="1"/>
              <a:t>itu</a:t>
            </a:r>
            <a:r>
              <a:rPr lang="en-US" b="1" dirty="0"/>
              <a:t> Inheritance?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0406B-7376-3E83-B462-C0C58CF69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Inheritance (</a:t>
            </a:r>
            <a:r>
              <a:rPr lang="en-ID" b="1" dirty="0" err="1"/>
              <a:t>Pewarisan</a:t>
            </a:r>
            <a:r>
              <a:rPr lang="en-ID" b="1" dirty="0"/>
              <a:t>)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pilar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i="1" dirty="0"/>
              <a:t>Object-Oriented Programming</a:t>
            </a:r>
            <a:r>
              <a:rPr lang="en-ID" dirty="0"/>
              <a:t> (OOP) yang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i="1" dirty="0"/>
              <a:t>class</a:t>
            </a:r>
            <a:r>
              <a:rPr lang="en-ID" dirty="0"/>
              <a:t> (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b="1" dirty="0"/>
              <a:t>Child/Derived Class</a:t>
            </a:r>
            <a:r>
              <a:rPr lang="en-ID" dirty="0"/>
              <a:t>)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mewarisi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(</a:t>
            </a:r>
            <a:r>
              <a:rPr lang="en-ID" i="1" dirty="0"/>
              <a:t>field/property</a:t>
            </a:r>
            <a:r>
              <a:rPr lang="en-ID" dirty="0"/>
              <a:t>) dan </a:t>
            </a:r>
            <a:r>
              <a:rPr lang="en-ID" dirty="0" err="1"/>
              <a:t>metode</a:t>
            </a:r>
            <a:r>
              <a:rPr lang="en-ID" dirty="0"/>
              <a:t> (</a:t>
            </a:r>
            <a:r>
              <a:rPr lang="en-ID" i="1" dirty="0"/>
              <a:t>method</a:t>
            </a:r>
            <a:r>
              <a:rPr lang="en-ID" dirty="0"/>
              <a:t>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i="1" dirty="0"/>
              <a:t>class</a:t>
            </a:r>
            <a:r>
              <a:rPr lang="en-ID" dirty="0"/>
              <a:t> lain (</a:t>
            </a:r>
            <a:r>
              <a:rPr lang="en-ID" dirty="0" err="1"/>
              <a:t>disebut</a:t>
            </a:r>
            <a:r>
              <a:rPr lang="en-ID" dirty="0"/>
              <a:t> </a:t>
            </a:r>
            <a:r>
              <a:rPr lang="en-ID" b="1" dirty="0"/>
              <a:t>Parent/Base Class</a:t>
            </a:r>
            <a:r>
              <a:rPr lang="en-ID" dirty="0"/>
              <a:t>).</a:t>
            </a:r>
          </a:p>
          <a:p>
            <a:pPr lvl="0"/>
            <a:r>
              <a:rPr lang="en-ID" b="1" dirty="0" err="1"/>
              <a:t>Analogi</a:t>
            </a:r>
            <a:r>
              <a:rPr lang="en-ID" b="1" dirty="0"/>
              <a:t> Real-World: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anak</a:t>
            </a:r>
            <a:r>
              <a:rPr lang="en-ID" dirty="0"/>
              <a:t> </a:t>
            </a:r>
            <a:r>
              <a:rPr lang="en-ID" dirty="0" err="1"/>
              <a:t>mewarisi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,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rambut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golongan</a:t>
            </a:r>
            <a:r>
              <a:rPr lang="en-ID" dirty="0"/>
              <a:t> </a:t>
            </a:r>
            <a:r>
              <a:rPr lang="en-ID" dirty="0" err="1"/>
              <a:t>darah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orang </a:t>
            </a:r>
            <a:r>
              <a:rPr lang="en-ID" dirty="0" err="1"/>
              <a:t>tuanya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sang </a:t>
            </a:r>
            <a:r>
              <a:rPr lang="en-ID" dirty="0" err="1"/>
              <a:t>anak</a:t>
            </a:r>
            <a:r>
              <a:rPr lang="en-ID" dirty="0"/>
              <a:t> juga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keahlian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dimiliki</a:t>
            </a:r>
            <a:r>
              <a:rPr lang="en-ID" dirty="0"/>
              <a:t> orang </a:t>
            </a:r>
            <a:r>
              <a:rPr lang="en-ID" dirty="0" err="1"/>
              <a:t>tuanya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9594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38BE-85A4-8168-13EE-0168B88F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Manfaat Utama: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2FB99-99A3-2B37-5DDE-6B4DC0B12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D" b="1" dirty="0"/>
              <a:t>Code Reusability:</a:t>
            </a:r>
            <a:r>
              <a:rPr lang="en-ID" dirty="0"/>
              <a:t> </a:t>
            </a:r>
            <a:r>
              <a:rPr lang="en-ID" dirty="0" err="1"/>
              <a:t>Mencegah</a:t>
            </a:r>
            <a:r>
              <a:rPr lang="en-ID" dirty="0"/>
              <a:t> </a:t>
            </a:r>
            <a:r>
              <a:rPr lang="en-ID" dirty="0" err="1"/>
              <a:t>penulisan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berulang</a:t>
            </a:r>
            <a:r>
              <a:rPr lang="en-ID" dirty="0"/>
              <a:t> (</a:t>
            </a:r>
            <a:r>
              <a:rPr lang="en-ID" i="1" dirty="0"/>
              <a:t>DRY - Don't Repeat Yourself</a:t>
            </a:r>
            <a:r>
              <a:rPr lang="en-ID" dirty="0"/>
              <a:t>).</a:t>
            </a:r>
          </a:p>
          <a:p>
            <a:pPr lvl="0"/>
            <a:r>
              <a:rPr lang="en-ID" b="1" dirty="0"/>
              <a:t>Maintainability:</a:t>
            </a:r>
            <a:r>
              <a:rPr lang="en-ID" dirty="0"/>
              <a:t> Jika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,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ubah</a:t>
            </a:r>
            <a:r>
              <a:rPr lang="en-ID" dirty="0"/>
              <a:t> di </a:t>
            </a:r>
            <a:r>
              <a:rPr lang="en-ID" i="1" dirty="0"/>
              <a:t>Parent Class</a:t>
            </a:r>
            <a:r>
              <a:rPr lang="en-ID" dirty="0"/>
              <a:t>.</a:t>
            </a:r>
          </a:p>
          <a:p>
            <a:pPr lvl="0"/>
            <a:r>
              <a:rPr lang="en-ID" b="1" dirty="0" err="1"/>
              <a:t>Hierarki</a:t>
            </a:r>
            <a:r>
              <a:rPr lang="en-ID" b="1" dirty="0"/>
              <a:t> </a:t>
            </a:r>
            <a:r>
              <a:rPr lang="en-ID" b="1" dirty="0" err="1"/>
              <a:t>Objek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logis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16495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6990-E4E8-578A-C094-195581A3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Ketentuan</a:t>
            </a:r>
            <a:r>
              <a:rPr lang="en-US" b="1" dirty="0"/>
              <a:t> </a:t>
            </a:r>
            <a:r>
              <a:rPr lang="en-US" b="1" dirty="0" err="1"/>
              <a:t>khusus</a:t>
            </a:r>
            <a:r>
              <a:rPr lang="en-US" b="1" dirty="0"/>
              <a:t> inheritance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53240-8D56-DEA1-6469-460AB6EFC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>
                <a:highlight>
                  <a:srgbClr val="00FFFF"/>
                </a:highlight>
              </a:rPr>
              <a:t>protected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/method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disentuh</a:t>
            </a:r>
            <a:r>
              <a:rPr lang="en-ID" dirty="0"/>
              <a:t> oleh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induk</a:t>
            </a:r>
            <a:r>
              <a:rPr lang="en-ID" dirty="0"/>
              <a:t> dan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anak-anak</a:t>
            </a:r>
            <a:r>
              <a:rPr lang="en-ID" dirty="0"/>
              <a:t> </a:t>
            </a:r>
            <a:r>
              <a:rPr lang="en-ID" dirty="0" err="1"/>
              <a:t>turunannya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tersembunyi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luar</a:t>
            </a:r>
            <a:r>
              <a:rPr lang="en-ID" dirty="0"/>
              <a:t>.</a:t>
            </a:r>
          </a:p>
          <a:p>
            <a:r>
              <a:rPr lang="en-ID" dirty="0"/>
              <a:t>Peran Keyword </a:t>
            </a:r>
            <a:r>
              <a:rPr lang="en-ID" dirty="0">
                <a:highlight>
                  <a:srgbClr val="FFFF00"/>
                </a:highlight>
              </a:rPr>
              <a:t>base</a:t>
            </a:r>
            <a:r>
              <a:rPr lang="en-ID" dirty="0"/>
              <a:t> pada Constructor</a:t>
            </a:r>
          </a:p>
        </p:txBody>
      </p:sp>
    </p:spTree>
    <p:extLst>
      <p:ext uri="{BB962C8B-B14F-4D97-AF65-F5344CB8AC3E}">
        <p14:creationId xmlns:p14="http://schemas.microsoft.com/office/powerpoint/2010/main" val="83407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AF33D9-5F47-5868-A6C6-B3BBFD282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3775" y="1073481"/>
            <a:ext cx="7222404" cy="47110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B2D46E-7520-CF13-260C-88B10D7E35A6}"/>
              </a:ext>
            </a:extLst>
          </p:cNvPr>
          <p:cNvSpPr txBox="1"/>
          <p:nvPr/>
        </p:nvSpPr>
        <p:spPr>
          <a:xfrm>
            <a:off x="470042" y="1376557"/>
            <a:ext cx="34752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3200" dirty="0"/>
              <a:t>Ada </a:t>
            </a:r>
            <a:r>
              <a:rPr lang="en-ID" sz="3200" dirty="0" err="1"/>
              <a:t>kode</a:t>
            </a:r>
            <a:r>
              <a:rPr lang="en-ID" sz="3200" dirty="0"/>
              <a:t> yang </a:t>
            </a:r>
            <a:r>
              <a:rPr lang="en-ID" sz="3200" b="1" dirty="0" err="1"/>
              <a:t>berulang</a:t>
            </a:r>
            <a:r>
              <a:rPr lang="en-ID" sz="3200" dirty="0"/>
              <a:t>.</a:t>
            </a:r>
          </a:p>
          <a:p>
            <a:pPr>
              <a:buNone/>
            </a:pPr>
            <a:r>
              <a:rPr lang="en-ID" sz="3200" dirty="0" err="1"/>
              <a:t>Padahal</a:t>
            </a:r>
            <a:r>
              <a:rPr lang="en-ID" sz="3200" dirty="0"/>
              <a:t> Mobil, Motor, dan Bus </a:t>
            </a:r>
            <a:r>
              <a:rPr lang="en-ID" sz="3200" dirty="0" err="1"/>
              <a:t>sama-sama</a:t>
            </a:r>
            <a:r>
              <a:rPr lang="en-ID" sz="3200" dirty="0"/>
              <a:t> </a:t>
            </a:r>
            <a:r>
              <a:rPr lang="en-ID" sz="3200" dirty="0" err="1"/>
              <a:t>merupakan</a:t>
            </a:r>
            <a:r>
              <a:rPr lang="en-ID" sz="3200" dirty="0"/>
              <a:t> </a:t>
            </a:r>
            <a:r>
              <a:rPr lang="en-ID" sz="3200" dirty="0" err="1"/>
              <a:t>kendaraan</a:t>
            </a:r>
            <a:r>
              <a:rPr lang="en-ID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718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1AD0D-6B7D-743C-2B20-152193274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Maka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68AA26-D1CC-5A0C-9F76-EB8C0B02DC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1771"/>
            <a:ext cx="6699324" cy="2449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82AA30-0B55-46CC-9434-3EAE02B901BF}"/>
              </a:ext>
            </a:extLst>
          </p:cNvPr>
          <p:cNvSpPr txBox="1"/>
          <p:nvPr/>
        </p:nvSpPr>
        <p:spPr>
          <a:xfrm>
            <a:off x="8257996" y="2271260"/>
            <a:ext cx="34135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2800" dirty="0" err="1"/>
              <a:t>Kemampuan</a:t>
            </a:r>
            <a:r>
              <a:rPr lang="en-ID" sz="2800" dirty="0"/>
              <a:t> yang </a:t>
            </a:r>
            <a:r>
              <a:rPr lang="en-ID" sz="2800" dirty="0" err="1"/>
              <a:t>sama</a:t>
            </a:r>
            <a:r>
              <a:rPr lang="en-ID" sz="2800" dirty="0"/>
              <a:t> </a:t>
            </a:r>
            <a:r>
              <a:rPr lang="en-ID" sz="2800" dirty="0" err="1"/>
              <a:t>diletakkan</a:t>
            </a:r>
            <a:r>
              <a:rPr lang="en-ID" sz="2800" dirty="0"/>
              <a:t> di </a:t>
            </a:r>
            <a:r>
              <a:rPr lang="en-ID" sz="2800" dirty="0" err="1">
                <a:latin typeface="+mn-lt"/>
              </a:rPr>
              <a:t>Kendaraan</a:t>
            </a:r>
            <a:r>
              <a:rPr lang="en-ID" sz="2800" dirty="0"/>
              <a:t>.</a:t>
            </a:r>
          </a:p>
          <a:p>
            <a:pPr>
              <a:buNone/>
            </a:pPr>
            <a:r>
              <a:rPr lang="en-ID" sz="2800" dirty="0" err="1"/>
              <a:t>Kemampuan</a:t>
            </a:r>
            <a:r>
              <a:rPr lang="en-ID" sz="2800" dirty="0"/>
              <a:t> </a:t>
            </a:r>
            <a:r>
              <a:rPr lang="en-ID" sz="2800" dirty="0" err="1"/>
              <a:t>khusus</a:t>
            </a:r>
            <a:r>
              <a:rPr lang="en-ID" sz="2800" dirty="0"/>
              <a:t> </a:t>
            </a:r>
            <a:r>
              <a:rPr lang="en-ID" sz="2800" dirty="0" err="1"/>
              <a:t>diletakkan</a:t>
            </a:r>
            <a:r>
              <a:rPr lang="en-ID" sz="2800" dirty="0"/>
              <a:t> pada masing-masing class.</a:t>
            </a:r>
          </a:p>
          <a:p>
            <a:pPr>
              <a:buNone/>
            </a:pPr>
            <a:r>
              <a:rPr lang="en-ID" sz="2800" b="1" dirty="0" err="1"/>
              <a:t>Inilah</a:t>
            </a:r>
            <a:r>
              <a:rPr lang="en-ID" sz="2800" b="1" dirty="0"/>
              <a:t> </a:t>
            </a:r>
            <a:r>
              <a:rPr lang="en-ID" sz="2800" b="1" dirty="0" err="1"/>
              <a:t>alasan</a:t>
            </a:r>
            <a:r>
              <a:rPr lang="en-ID" sz="2800" b="1" dirty="0"/>
              <a:t> </a:t>
            </a:r>
            <a:r>
              <a:rPr lang="en-ID" sz="2800" b="1" dirty="0" err="1"/>
              <a:t>kita</a:t>
            </a:r>
            <a:r>
              <a:rPr lang="en-ID" sz="2800" b="1" dirty="0"/>
              <a:t> </a:t>
            </a:r>
            <a:r>
              <a:rPr lang="en-ID" sz="2800" b="1" dirty="0" err="1"/>
              <a:t>menggunakan</a:t>
            </a:r>
            <a:r>
              <a:rPr lang="en-ID" sz="2800" b="1" dirty="0"/>
              <a:t> inheritance.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236317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5169E-2D26-92E3-26C1-322169D7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Pengertian</a:t>
            </a:r>
            <a:r>
              <a:rPr lang="en-ID" dirty="0"/>
              <a:t>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64B92-7A82-C6E7-D8FE-513A80957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Inheritance </a:t>
            </a:r>
            <a:r>
              <a:rPr lang="en-ID" b="1" dirty="0" err="1"/>
              <a:t>adalah</a:t>
            </a:r>
            <a:r>
              <a:rPr lang="en-ID" b="1" dirty="0"/>
              <a:t> </a:t>
            </a:r>
            <a:r>
              <a:rPr lang="en-ID" b="1" dirty="0" err="1"/>
              <a:t>konsep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OOP yang </a:t>
            </a:r>
            <a:r>
              <a:rPr lang="en-ID" b="1" dirty="0" err="1"/>
              <a:t>memungkinkan</a:t>
            </a:r>
            <a:r>
              <a:rPr lang="en-ID" b="1" dirty="0"/>
              <a:t> </a:t>
            </a:r>
            <a:r>
              <a:rPr lang="en-ID" b="1" dirty="0" err="1"/>
              <a:t>sebuah</a:t>
            </a:r>
            <a:r>
              <a:rPr lang="en-ID" b="1" dirty="0"/>
              <a:t> class </a:t>
            </a:r>
            <a:r>
              <a:rPr lang="en-ID" b="1" dirty="0" err="1"/>
              <a:t>mewarisi</a:t>
            </a:r>
            <a:r>
              <a:rPr lang="en-ID" b="1" dirty="0"/>
              <a:t> </a:t>
            </a:r>
            <a:r>
              <a:rPr lang="en-ID" b="1" dirty="0" err="1"/>
              <a:t>anggota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class </a:t>
            </a:r>
            <a:r>
              <a:rPr lang="en-ID" b="1" dirty="0" err="1"/>
              <a:t>lainnya</a:t>
            </a:r>
            <a:r>
              <a:rPr lang="en-ID" b="1" dirty="0"/>
              <a:t>.</a:t>
            </a:r>
            <a:endParaRPr lang="en-ID" dirty="0"/>
          </a:p>
          <a:p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:</a:t>
            </a:r>
          </a:p>
          <a:p>
            <a:pPr marL="0" indent="0">
              <a:buNone/>
            </a:pPr>
            <a:r>
              <a:rPr lang="en-ID" b="1" dirty="0">
                <a:highlight>
                  <a:srgbClr val="00FFFF"/>
                </a:highlight>
              </a:rPr>
              <a:t>Inheritance = </a:t>
            </a:r>
            <a:r>
              <a:rPr lang="en-ID" b="1" dirty="0" err="1">
                <a:highlight>
                  <a:srgbClr val="00FFFF"/>
                </a:highlight>
              </a:rPr>
              <a:t>pewarisan</a:t>
            </a:r>
            <a:r>
              <a:rPr lang="en-ID" b="1" dirty="0">
                <a:highlight>
                  <a:srgbClr val="00FFFF"/>
                </a:highlight>
              </a:rPr>
              <a:t>.</a:t>
            </a:r>
            <a:endParaRPr lang="en-ID" dirty="0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ID" dirty="0">
                <a:highlight>
                  <a:srgbClr val="FFFF00"/>
                </a:highlight>
              </a:rPr>
              <a:t>Class yang </a:t>
            </a:r>
            <a:r>
              <a:rPr lang="en-ID" dirty="0" err="1">
                <a:highlight>
                  <a:srgbClr val="FFFF00"/>
                </a:highlight>
              </a:rPr>
              <a:t>memberikan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warisan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disebut</a:t>
            </a:r>
            <a:r>
              <a:rPr lang="en-ID" dirty="0">
                <a:highlight>
                  <a:srgbClr val="FFFF00"/>
                </a:highlight>
              </a:rPr>
              <a:t>:</a:t>
            </a:r>
          </a:p>
          <a:p>
            <a:r>
              <a:rPr lang="en-ID" b="1" dirty="0"/>
              <a:t>Parent Class / Base Class</a:t>
            </a:r>
            <a:endParaRPr lang="en-ID" dirty="0"/>
          </a:p>
          <a:p>
            <a:pPr marL="0" indent="0">
              <a:buNone/>
            </a:pPr>
            <a:r>
              <a:rPr lang="en-ID" dirty="0">
                <a:highlight>
                  <a:srgbClr val="FFFF00"/>
                </a:highlight>
              </a:rPr>
              <a:t>Class yang </a:t>
            </a:r>
            <a:r>
              <a:rPr lang="en-ID" dirty="0" err="1">
                <a:highlight>
                  <a:srgbClr val="FFFF00"/>
                </a:highlight>
              </a:rPr>
              <a:t>menerima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warisan</a:t>
            </a:r>
            <a:r>
              <a:rPr lang="en-ID" dirty="0">
                <a:highlight>
                  <a:srgbClr val="FFFF00"/>
                </a:highlight>
              </a:rPr>
              <a:t> </a:t>
            </a:r>
            <a:r>
              <a:rPr lang="en-ID" dirty="0" err="1">
                <a:highlight>
                  <a:srgbClr val="FFFF00"/>
                </a:highlight>
              </a:rPr>
              <a:t>disebut</a:t>
            </a:r>
            <a:r>
              <a:rPr lang="en-ID" dirty="0">
                <a:highlight>
                  <a:srgbClr val="FFFF00"/>
                </a:highlight>
              </a:rPr>
              <a:t>:</a:t>
            </a:r>
          </a:p>
          <a:p>
            <a:r>
              <a:rPr lang="en-ID" b="1" dirty="0"/>
              <a:t>Child Class / Derived Class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2353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DAACD-A5F6-AB42-4806-40B14C93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DDB134-FA37-51AC-9942-3728268E0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463" y="2430203"/>
            <a:ext cx="2008690" cy="34456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713E0-8E37-DB53-F48B-AF5A99043D16}"/>
              </a:ext>
            </a:extLst>
          </p:cNvPr>
          <p:cNvSpPr txBox="1"/>
          <p:nvPr/>
        </p:nvSpPr>
        <p:spPr>
          <a:xfrm>
            <a:off x="4281755" y="3429000"/>
            <a:ext cx="6097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sz="3200" dirty="0"/>
              <a:t>Artinya:</a:t>
            </a:r>
          </a:p>
          <a:p>
            <a:pPr>
              <a:buNone/>
            </a:pPr>
            <a:r>
              <a:rPr lang="en-ID" sz="3200" dirty="0"/>
              <a:t>Mobil </a:t>
            </a:r>
            <a:r>
              <a:rPr lang="en-ID" sz="3200" dirty="0" err="1"/>
              <a:t>merupakan</a:t>
            </a:r>
            <a:r>
              <a:rPr lang="en-ID" sz="3200" dirty="0"/>
              <a:t> </a:t>
            </a:r>
            <a:r>
              <a:rPr lang="en-ID" sz="3200" dirty="0" err="1"/>
              <a:t>turunan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Kendaraan</a:t>
            </a:r>
            <a:r>
              <a:rPr lang="en-ID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3892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1D5-53C2-F1C1-9947-8B886C31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Bentuk</a:t>
            </a:r>
            <a:r>
              <a:rPr lang="en-ID" b="1" dirty="0"/>
              <a:t> Dasar Inheritance di C#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4FA86-6CD7-5C52-71B6-8234D1B0B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3600" dirty="0">
                <a:highlight>
                  <a:srgbClr val="00FFFF"/>
                </a:highlight>
              </a:rPr>
              <a:t>class Child : Parent</a:t>
            </a:r>
          </a:p>
          <a:p>
            <a:pPr marL="0" indent="0">
              <a:buNone/>
            </a:pPr>
            <a:r>
              <a:rPr lang="en-ID" sz="3600" dirty="0">
                <a:highlight>
                  <a:srgbClr val="00FFFF"/>
                </a:highlight>
              </a:rPr>
              <a:t>{</a:t>
            </a:r>
          </a:p>
          <a:p>
            <a:pPr marL="0" indent="0">
              <a:buNone/>
            </a:pPr>
            <a:r>
              <a:rPr lang="en-ID" sz="3600" dirty="0">
                <a:highlight>
                  <a:srgbClr val="00FFFF"/>
                </a:highlight>
              </a:rPr>
              <a:t>}</a:t>
            </a:r>
          </a:p>
          <a:p>
            <a:pPr marL="0" indent="0">
              <a:buNone/>
            </a:pPr>
            <a:endParaRPr lang="en-ID" sz="3600" dirty="0">
              <a:highlight>
                <a:srgbClr val="00FFFF"/>
              </a:highlight>
            </a:endParaRPr>
          </a:p>
          <a:p>
            <a:pPr marL="0" indent="0">
              <a:buNone/>
            </a:pPr>
            <a:endParaRPr lang="en-ID" sz="3600" dirty="0">
              <a:highlight>
                <a:srgbClr val="00FFFF"/>
              </a:highlight>
            </a:endParaRPr>
          </a:p>
          <a:p>
            <a:pPr marL="0" indent="0">
              <a:buNone/>
            </a:pPr>
            <a:endParaRPr lang="en-ID" sz="3600" dirty="0">
              <a:highlight>
                <a:srgbClr val="00FFFF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E8492-AE68-5EDD-526D-09CFE8DE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011" y="1825625"/>
            <a:ext cx="3714959" cy="458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51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0BB5-9352-41CD-EBF5-9F1DBE42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00F2F1-DD1E-8E42-D914-002050F9B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1398"/>
            <a:ext cx="7530672" cy="2517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C83FF3-ACCB-BA2B-C21C-08554163F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27996"/>
            <a:ext cx="6472673" cy="19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51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CD11-A195-9300-7982-AFAC9262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POLYMORPHISME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3FF59-3E15-7920-D673-860C27177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6394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383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INHERITANCE</vt:lpstr>
      <vt:lpstr>A. Tujuan Pembelajaran </vt:lpstr>
      <vt:lpstr>Apersepsi: Kenapa Inheritance Dibutuhkan?</vt:lpstr>
      <vt:lpstr>Apa itu Inheritance?</vt:lpstr>
      <vt:lpstr>Manfaat Utama:</vt:lpstr>
      <vt:lpstr>Ketentuan khusus inheritance</vt:lpstr>
      <vt:lpstr>PowerPoint Presentation</vt:lpstr>
      <vt:lpstr>Maka kita dapat membuat:</vt:lpstr>
      <vt:lpstr>Pengertian Inheritance</vt:lpstr>
      <vt:lpstr>PowerPoint Presentation</vt:lpstr>
      <vt:lpstr>Bentuk Dasar Inheritance di C#</vt:lpstr>
      <vt:lpstr>Contoh</vt:lpstr>
      <vt:lpstr>POLYMORPHISME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Aisyah Hasna Aulia</dc:creator>
  <cp:lastModifiedBy>Aisyah Hasna Aulia</cp:lastModifiedBy>
  <cp:revision>11</cp:revision>
  <dcterms:created xsi:type="dcterms:W3CDTF">2026-09-01T02:58:38Z</dcterms:created>
  <dcterms:modified xsi:type="dcterms:W3CDTF">2026-09-02T03:00:06Z</dcterms:modified>
</cp:coreProperties>
</file>